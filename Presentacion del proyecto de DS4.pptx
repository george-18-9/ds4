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60" r:id="rId3"/>
    <p:sldId id="258" r:id="rId4"/>
    <p:sldId id="261" r:id="rId5"/>
    <p:sldId id="259" r:id="rId6"/>
    <p:sldId id="262" r:id="rId7"/>
    <p:sldId id="263" r:id="rId8"/>
    <p:sldId id="264" r:id="rId9"/>
    <p:sldId id="266" r:id="rId10"/>
    <p:sldId id="265" r:id="rId11"/>
  </p:sldIdLst>
  <p:sldSz cx="12192000" cy="6858000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C7EF02-947B-4970-ADE2-57BF7423610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400286-4456-471C-B0FE-5A5F869E6166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696306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11F77-9A9F-410E-BCDE-CDDDE354D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83D0AF-57BD-267F-1441-DE847CEFE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CDB058-C198-749F-31E7-C7354F2C4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C2ABC-B62F-6A26-390D-C6D4966493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98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1334A-718D-D1DE-39FC-D8A62B056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BAE920-69FF-D820-9277-FBA1771AF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7F3B30-353A-C719-D43D-053F3426E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3F8968-2374-573F-5788-64B257BB3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C7C71F-C65D-466E-EBB1-26814217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592175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D2F46-04F2-3B0A-B16A-F7BA3B76D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C2034F-CD5B-3667-51F8-D6429105A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05E5BF-0129-087E-E26F-8B9C4247B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FF0890-059C-D21D-CEC9-B0866013E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6703B3-DAC5-7ECB-3A7F-6B1E7881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24629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2DCE9-07FA-B89B-D37A-C2C56B194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EB7313-FA86-B789-1FAF-795470ED8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37C9EC-9477-DD3A-3D84-0B40EF1C8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5022F5-293B-C2C8-C980-09ACB213F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4137D2-A9E5-366E-DFEB-54D91128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221905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3FEDC-EDDF-E05D-A4A9-684D785DF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855B03-882D-B0E5-D299-7B5B270AAE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32DF82-75A1-003D-5B0E-5EB1E09322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CD0B91C-DD81-22BC-F456-679A791B0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8A25CE-D351-2B24-7327-6845CAFD9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5E7E4C-8AC6-1677-E8D2-9C8067D75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4168268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95800-9A81-1200-C033-F1F4A1C96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770F0A-7B00-81D2-F67F-FFF9295E6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8A822B-180A-A22A-ABDA-D1F4935D4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F327129-7E37-ED63-1A46-B67D71C190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7F02281-58E7-9709-5470-B5E34BD2AB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8783C96-8270-A50B-1CC5-461A26967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C174838-10AE-CE13-9184-57969476A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A8E9A05-69CD-7689-2285-5FE2C8BCE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996609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F61B1-6076-43D0-1E98-F010686E3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D000E85-8B61-6328-0C23-30C84707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8655E4C-5009-A3E7-2521-930453FC6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C532F13-427D-140A-649E-58A36510E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70501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BA46CC7-7A84-7A52-5E4D-2AAFD76E3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3109B44-7387-4493-82DA-6C19D2776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808FEF-C525-FBBE-BBEC-FA5665A0A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85754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AE86C-6ABF-B537-7177-AAF51466B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1F869E-3F30-FEBB-543A-53BC5DB94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47AA66-9EE4-D1E8-1E0C-C200971A8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5C4540-D31B-20B3-CD02-0780F588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C25F77-8197-B979-EC9F-E17C20CD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9C361B-DBD8-98A3-8539-0F880D13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852044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7107E-5789-0DE2-42DF-0D39A48F8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70FD6F3-3EBC-67A8-2EB2-A975BA7FF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C9EE3F9-A3D0-11AC-E7DF-D183AA5A8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7E9225-936D-250F-044E-A8109966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A2D6F7-3E55-61F6-BE3D-996B8425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AFAEA2-92AF-8519-205A-E44C67363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073247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8B9B3-AA7A-73C6-2D35-244998262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63C1C5-E530-AE57-7F73-3B1AD0C90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1F82EB-ACA6-3E0B-C528-7FE854481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8D9E65-382F-1B1D-7103-14D88E18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19ECAB-D6DB-F57D-E6A8-F92DFF429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4192193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5EAE4CD-84EA-AD92-47C1-396C3D1BAF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EE0A50D-3CE5-6349-0801-695D8B3A4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12D7C-8E10-D462-FB3E-7DF0E278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BB4586-EABC-72D8-3184-E80CB5927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C297CF-E725-073B-FA75-CC3058B00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417475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12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90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972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91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3925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0873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82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4453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983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B609D89-9C23-0150-334C-36D4F6124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CE16EB-5D59-B8EC-4E55-55FF6E4C8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3D1759-0B90-669E-5AFF-EEA929E919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C545DA-858D-AF3B-ECEA-0D126D280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163B1D-E21F-ADF6-8603-C1D39B8F5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945847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7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7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Relationship Id="rId14" Type="http://schemas.openxmlformats.org/officeDocument/2006/relationships/image" Target="../media/image3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492" y="1459876"/>
            <a:ext cx="6297018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875"/>
              </a:lnSpc>
            </a:pPr>
            <a:r>
              <a:rPr lang="en-US" sz="3875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Sistema de Reservas de Canchas Deportivas</a:t>
            </a:r>
            <a:endParaRPr lang="en-US" sz="3875" dirty="0"/>
          </a:p>
        </p:txBody>
      </p:sp>
      <p:sp>
        <p:nvSpPr>
          <p:cNvPr id="4" name="Text 1"/>
          <p:cNvSpPr/>
          <p:nvPr/>
        </p:nvSpPr>
        <p:spPr>
          <a:xfrm>
            <a:off x="5128112" y="3429000"/>
            <a:ext cx="6297018" cy="2687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b="1" dirty="0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Proyecto Final – Desarrollo de Software 4</a:t>
            </a:r>
          </a:p>
          <a:p>
            <a:pPr>
              <a:lnSpc>
                <a:spcPts val="2375"/>
              </a:lnSpc>
            </a:pPr>
            <a:endParaRPr lang="en-US" sz="1458" b="1" dirty="0">
              <a:solidFill>
                <a:srgbClr val="272525"/>
              </a:solidFill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pPr>
              <a:lnSpc>
                <a:spcPts val="2375"/>
              </a:lnSpc>
            </a:pPr>
            <a:r>
              <a:rPr lang="en-US" sz="1458" b="1" dirty="0" err="1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Estudiante</a:t>
            </a:r>
            <a:r>
              <a:rPr lang="en-US" sz="1458" b="1" dirty="0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: George Worrell 8-1040-800</a:t>
            </a:r>
          </a:p>
          <a:p>
            <a:pPr>
              <a:lnSpc>
                <a:spcPts val="2375"/>
              </a:lnSpc>
            </a:pPr>
            <a:endParaRPr lang="en-US" sz="1458" b="1" dirty="0">
              <a:solidFill>
                <a:srgbClr val="272525"/>
              </a:solidFill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pPr>
              <a:lnSpc>
                <a:spcPts val="2375"/>
              </a:lnSpc>
            </a:pPr>
            <a:r>
              <a:rPr lang="en-US" sz="1458" b="1" dirty="0" err="1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Profesor</a:t>
            </a:r>
            <a:r>
              <a:rPr lang="en-US" sz="1458" b="1" dirty="0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: Regis Rivera</a:t>
            </a:r>
          </a:p>
          <a:p>
            <a:pPr>
              <a:lnSpc>
                <a:spcPts val="2375"/>
              </a:lnSpc>
            </a:pPr>
            <a:endParaRPr lang="en-US" sz="1458" b="1" dirty="0">
              <a:solidFill>
                <a:srgbClr val="272525"/>
              </a:solidFill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pPr>
              <a:lnSpc>
                <a:spcPts val="2375"/>
              </a:lnSpc>
            </a:pPr>
            <a:r>
              <a:rPr lang="en-US" sz="1458" b="1" dirty="0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Grupo: 1GS221</a:t>
            </a:r>
          </a:p>
          <a:p>
            <a:pPr>
              <a:lnSpc>
                <a:spcPts val="2375"/>
              </a:lnSpc>
            </a:pPr>
            <a:endParaRPr lang="en-US" sz="1458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7FA209F-BC2A-4794-F6E1-A3BAF931C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8261" y="6389915"/>
            <a:ext cx="1533739" cy="4680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C7EDD-63CA-7E5C-D7B7-1A9A64E6B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182C3F8-3A43-C126-2BC3-A0880E6FC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C8D6545-440C-B7F6-31D9-9DCC331946D5}"/>
              </a:ext>
            </a:extLst>
          </p:cNvPr>
          <p:cNvSpPr/>
          <p:nvPr/>
        </p:nvSpPr>
        <p:spPr>
          <a:xfrm>
            <a:off x="5233492" y="1609725"/>
            <a:ext cx="5615781" cy="620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75"/>
              </a:lnSpc>
            </a:pPr>
            <a:r>
              <a:rPr lang="en-US" sz="3875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Introducción al Proyecto</a:t>
            </a:r>
            <a:endParaRPr lang="en-US" sz="3875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4D3AB3D-D7FC-065E-32A5-233FB30FAEB3}"/>
              </a:ext>
            </a:extLst>
          </p:cNvPr>
          <p:cNvSpPr/>
          <p:nvPr/>
        </p:nvSpPr>
        <p:spPr>
          <a:xfrm>
            <a:off x="5233492" y="2702421"/>
            <a:ext cx="2917924" cy="37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17"/>
              </a:lnSpc>
            </a:pPr>
            <a:r>
              <a:rPr lang="en-US" sz="2333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El Desafío</a:t>
            </a:r>
            <a:endParaRPr lang="en-US" sz="2333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53E56D1-3E98-2E68-3A9B-BD7CC09AE89B}"/>
              </a:ext>
            </a:extLst>
          </p:cNvPr>
          <p:cNvSpPr/>
          <p:nvPr/>
        </p:nvSpPr>
        <p:spPr>
          <a:xfrm>
            <a:off x="5233492" y="3263603"/>
            <a:ext cx="291792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gestión manual de reservas deportivas genera conflictos de horarios, pérdida de información y experiencias frustrantes para los usuarios. Nuestro sistema automatiza este proceso crítico.</a:t>
            </a:r>
            <a:endParaRPr lang="en-US" sz="1458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BF9EF55-3A2B-82C8-D5C3-72F3F93D148A}"/>
              </a:ext>
            </a:extLst>
          </p:cNvPr>
          <p:cNvSpPr/>
          <p:nvPr/>
        </p:nvSpPr>
        <p:spPr>
          <a:xfrm>
            <a:off x="8618935" y="2702421"/>
            <a:ext cx="2917924" cy="37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17"/>
              </a:lnSpc>
            </a:pPr>
            <a:r>
              <a:rPr lang="en-US" sz="2333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 Solución</a:t>
            </a:r>
            <a:endParaRPr lang="en-US" sz="2333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F4465A4-5DB8-E4EA-F485-86EB4398C711}"/>
              </a:ext>
            </a:extLst>
          </p:cNvPr>
          <p:cNvSpPr/>
          <p:nvPr/>
        </p:nvSpPr>
        <p:spPr>
          <a:xfrm>
            <a:off x="8618935" y="3263603"/>
            <a:ext cx="291792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aplicación web moderna que permite organizar horarios de forma eficiente, consultar disponibilidad en tiempo real y evitar superposiciones de reservas.</a:t>
            </a:r>
            <a:endParaRPr lang="en-US" sz="1458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D3F9AC8-0ED2-FA4E-B3D4-FE51F5D6B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9997" y="6425269"/>
            <a:ext cx="2172003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03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831850"/>
            <a:ext cx="5052219" cy="620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75"/>
              </a:lnSpc>
            </a:pPr>
            <a:r>
              <a:rPr lang="en-US" sz="3875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Objetivos del Proyecto</a:t>
            </a:r>
            <a:endParaRPr lang="en-US" sz="3875" dirty="0"/>
          </a:p>
        </p:txBody>
      </p:sp>
      <p:sp>
        <p:nvSpPr>
          <p:cNvPr id="3" name="Shape 1"/>
          <p:cNvSpPr/>
          <p:nvPr/>
        </p:nvSpPr>
        <p:spPr>
          <a:xfrm>
            <a:off x="661492" y="1830090"/>
            <a:ext cx="10869018" cy="1419027"/>
          </a:xfrm>
          <a:prstGeom prst="roundRect">
            <a:avLst>
              <a:gd name="adj" fmla="val 559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4" name="Text 2"/>
          <p:cNvSpPr/>
          <p:nvPr/>
        </p:nvSpPr>
        <p:spPr>
          <a:xfrm>
            <a:off x="856854" y="2025452"/>
            <a:ext cx="2480866" cy="310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US" sz="1917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Objetivo General</a:t>
            </a:r>
            <a:endParaRPr lang="en-US" sz="1917" dirty="0"/>
          </a:p>
        </p:txBody>
      </p:sp>
      <p:sp>
        <p:nvSpPr>
          <p:cNvPr id="5" name="Text 3"/>
          <p:cNvSpPr/>
          <p:nvPr/>
        </p:nvSpPr>
        <p:spPr>
          <a:xfrm>
            <a:off x="856854" y="2448918"/>
            <a:ext cx="104782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Automatizar completamente el proceso de reservas de canchas deportivas mediante una plataforma web intuitiva y eficiente</a:t>
            </a:r>
            <a:endParaRPr lang="en-US" sz="1458" dirty="0"/>
          </a:p>
        </p:txBody>
      </p:sp>
      <p:sp>
        <p:nvSpPr>
          <p:cNvPr id="6" name="Shape 4"/>
          <p:cNvSpPr/>
          <p:nvPr/>
        </p:nvSpPr>
        <p:spPr>
          <a:xfrm>
            <a:off x="661492" y="3461742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7" name="Text 5"/>
          <p:cNvSpPr/>
          <p:nvPr/>
        </p:nvSpPr>
        <p:spPr>
          <a:xfrm>
            <a:off x="725289" y="3488333"/>
            <a:ext cx="29765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33"/>
              </a:lnSpc>
            </a:pPr>
            <a:r>
              <a:rPr lang="en-US" sz="2333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333" dirty="0"/>
          </a:p>
        </p:txBody>
      </p:sp>
      <p:sp>
        <p:nvSpPr>
          <p:cNvPr id="8" name="Text 6"/>
          <p:cNvSpPr/>
          <p:nvPr/>
        </p:nvSpPr>
        <p:spPr>
          <a:xfrm>
            <a:off x="1275755" y="3526632"/>
            <a:ext cx="2480866" cy="310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US" sz="1917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Registrar reservas</a:t>
            </a:r>
            <a:endParaRPr lang="en-US" sz="1917" dirty="0"/>
          </a:p>
        </p:txBody>
      </p:sp>
      <p:sp>
        <p:nvSpPr>
          <p:cNvPr id="9" name="Text 7"/>
          <p:cNvSpPr/>
          <p:nvPr/>
        </p:nvSpPr>
        <p:spPr>
          <a:xfrm>
            <a:off x="1275755" y="3950097"/>
            <a:ext cx="470207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Permitir a los usuarios crear y gestionar sus reservas de manera autónoma</a:t>
            </a:r>
            <a:endParaRPr lang="en-US" sz="1458" dirty="0"/>
          </a:p>
        </p:txBody>
      </p:sp>
      <p:sp>
        <p:nvSpPr>
          <p:cNvPr id="10" name="Shape 8"/>
          <p:cNvSpPr/>
          <p:nvPr/>
        </p:nvSpPr>
        <p:spPr>
          <a:xfrm>
            <a:off x="6214070" y="3461742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11" name="Text 9"/>
          <p:cNvSpPr/>
          <p:nvPr/>
        </p:nvSpPr>
        <p:spPr>
          <a:xfrm>
            <a:off x="6277868" y="3488333"/>
            <a:ext cx="29765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33"/>
              </a:lnSpc>
            </a:pPr>
            <a:r>
              <a:rPr lang="en-US" sz="2333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333" dirty="0"/>
          </a:p>
        </p:txBody>
      </p:sp>
      <p:sp>
        <p:nvSpPr>
          <p:cNvPr id="12" name="Text 10"/>
          <p:cNvSpPr/>
          <p:nvPr/>
        </p:nvSpPr>
        <p:spPr>
          <a:xfrm>
            <a:off x="6828334" y="3526632"/>
            <a:ext cx="2867521" cy="310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US" sz="1917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Consultar disponibilidad</a:t>
            </a:r>
            <a:endParaRPr lang="en-US" sz="1917" dirty="0"/>
          </a:p>
        </p:txBody>
      </p:sp>
      <p:sp>
        <p:nvSpPr>
          <p:cNvPr id="13" name="Text 11"/>
          <p:cNvSpPr/>
          <p:nvPr/>
        </p:nvSpPr>
        <p:spPr>
          <a:xfrm>
            <a:off x="6828333" y="3950097"/>
            <a:ext cx="470217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Visualizar en tiempo real los horarios disponibles de cada cancha</a:t>
            </a:r>
            <a:endParaRPr lang="en-US" sz="1458" dirty="0"/>
          </a:p>
        </p:txBody>
      </p:sp>
      <p:sp>
        <p:nvSpPr>
          <p:cNvPr id="14" name="Shape 12"/>
          <p:cNvSpPr/>
          <p:nvPr/>
        </p:nvSpPr>
        <p:spPr>
          <a:xfrm>
            <a:off x="661492" y="4932957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15" name="Text 13"/>
          <p:cNvSpPr/>
          <p:nvPr/>
        </p:nvSpPr>
        <p:spPr>
          <a:xfrm>
            <a:off x="725289" y="4959548"/>
            <a:ext cx="29765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33"/>
              </a:lnSpc>
            </a:pPr>
            <a:r>
              <a:rPr lang="en-US" sz="2333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333" dirty="0"/>
          </a:p>
        </p:txBody>
      </p:sp>
      <p:sp>
        <p:nvSpPr>
          <p:cNvPr id="16" name="Text 14"/>
          <p:cNvSpPr/>
          <p:nvPr/>
        </p:nvSpPr>
        <p:spPr>
          <a:xfrm>
            <a:off x="1275755" y="4997847"/>
            <a:ext cx="2480866" cy="310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US" sz="1917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Gestionar recursos</a:t>
            </a:r>
            <a:endParaRPr lang="en-US" sz="1917" dirty="0"/>
          </a:p>
        </p:txBody>
      </p:sp>
      <p:sp>
        <p:nvSpPr>
          <p:cNvPr id="17" name="Text 15"/>
          <p:cNvSpPr/>
          <p:nvPr/>
        </p:nvSpPr>
        <p:spPr>
          <a:xfrm>
            <a:off x="1275755" y="5421313"/>
            <a:ext cx="470207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Administrar eficientemente horarios, canchas y usuarios del sistema</a:t>
            </a:r>
            <a:endParaRPr lang="en-US" sz="1458" dirty="0"/>
          </a:p>
        </p:txBody>
      </p:sp>
      <p:sp>
        <p:nvSpPr>
          <p:cNvPr id="18" name="Shape 16"/>
          <p:cNvSpPr/>
          <p:nvPr/>
        </p:nvSpPr>
        <p:spPr>
          <a:xfrm>
            <a:off x="6214070" y="4932957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19" name="Text 17"/>
          <p:cNvSpPr/>
          <p:nvPr/>
        </p:nvSpPr>
        <p:spPr>
          <a:xfrm>
            <a:off x="6277868" y="4959548"/>
            <a:ext cx="29765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33"/>
              </a:lnSpc>
            </a:pPr>
            <a:r>
              <a:rPr lang="en-US" sz="2333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333" dirty="0"/>
          </a:p>
        </p:txBody>
      </p:sp>
      <p:sp>
        <p:nvSpPr>
          <p:cNvPr id="20" name="Text 18"/>
          <p:cNvSpPr/>
          <p:nvPr/>
        </p:nvSpPr>
        <p:spPr>
          <a:xfrm>
            <a:off x="6828334" y="4997847"/>
            <a:ext cx="2569766" cy="310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US" sz="1917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Mejorar la experiencia</a:t>
            </a:r>
            <a:endParaRPr lang="en-US" sz="1917" dirty="0"/>
          </a:p>
        </p:txBody>
      </p:sp>
      <p:sp>
        <p:nvSpPr>
          <p:cNvPr id="21" name="Text 19"/>
          <p:cNvSpPr/>
          <p:nvPr/>
        </p:nvSpPr>
        <p:spPr>
          <a:xfrm>
            <a:off x="6828333" y="5421313"/>
            <a:ext cx="470217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Ofrecer una interfaz amigable que simplifique el proceso de reserva</a:t>
            </a:r>
            <a:endParaRPr lang="en-US" sz="1458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1A048AFF-8609-E9AE-9E20-DFF52EBF0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565" y="6399214"/>
            <a:ext cx="1724266" cy="4261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4769" y="531317"/>
            <a:ext cx="6993334" cy="491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33"/>
              </a:lnSpc>
            </a:pPr>
            <a:r>
              <a:rPr lang="en-US" sz="3083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Alcance y Funcionalidades del Sistema</a:t>
            </a:r>
            <a:endParaRPr lang="en-US" sz="3083" dirty="0"/>
          </a:p>
        </p:txBody>
      </p:sp>
      <p:sp>
        <p:nvSpPr>
          <p:cNvPr id="3" name="Shape 1"/>
          <p:cNvSpPr/>
          <p:nvPr/>
        </p:nvSpPr>
        <p:spPr>
          <a:xfrm>
            <a:off x="524769" y="1323082"/>
            <a:ext cx="5496223" cy="1727795"/>
          </a:xfrm>
          <a:prstGeom prst="roundRect">
            <a:avLst>
              <a:gd name="adj" fmla="val 364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4" name="Shape 2"/>
          <p:cNvSpPr/>
          <p:nvPr/>
        </p:nvSpPr>
        <p:spPr>
          <a:xfrm>
            <a:off x="681038" y="1479352"/>
            <a:ext cx="449758" cy="449758"/>
          </a:xfrm>
          <a:prstGeom prst="roundRect">
            <a:avLst>
              <a:gd name="adj" fmla="val 16940738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664" y="1602978"/>
            <a:ext cx="202407" cy="2024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1038" y="2079030"/>
            <a:ext cx="1968004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42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Gestión de Usuarios</a:t>
            </a:r>
            <a:endParaRPr lang="en-US" sz="1542" dirty="0"/>
          </a:p>
        </p:txBody>
      </p:sp>
      <p:sp>
        <p:nvSpPr>
          <p:cNvPr id="7" name="Text 4"/>
          <p:cNvSpPr/>
          <p:nvPr/>
        </p:nvSpPr>
        <p:spPr>
          <a:xfrm>
            <a:off x="681038" y="2414984"/>
            <a:ext cx="5183683" cy="479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completo e inicio de sesión seguro con validación de credenciales</a:t>
            </a:r>
            <a:endParaRPr lang="en-US" sz="1167" dirty="0"/>
          </a:p>
        </p:txBody>
      </p:sp>
      <p:sp>
        <p:nvSpPr>
          <p:cNvPr id="8" name="Shape 5"/>
          <p:cNvSpPr/>
          <p:nvPr/>
        </p:nvSpPr>
        <p:spPr>
          <a:xfrm>
            <a:off x="6170910" y="1323082"/>
            <a:ext cx="5496322" cy="1727795"/>
          </a:xfrm>
          <a:prstGeom prst="roundRect">
            <a:avLst>
              <a:gd name="adj" fmla="val 364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9" name="Shape 6"/>
          <p:cNvSpPr/>
          <p:nvPr/>
        </p:nvSpPr>
        <p:spPr>
          <a:xfrm>
            <a:off x="6327180" y="1479352"/>
            <a:ext cx="449758" cy="449758"/>
          </a:xfrm>
          <a:prstGeom prst="roundRect">
            <a:avLst>
              <a:gd name="adj" fmla="val 16940738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0806" y="1602978"/>
            <a:ext cx="202407" cy="2024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27180" y="2079030"/>
            <a:ext cx="2501305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42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Administración de Canchas</a:t>
            </a:r>
            <a:endParaRPr lang="en-US" sz="1542" dirty="0"/>
          </a:p>
        </p:txBody>
      </p:sp>
      <p:sp>
        <p:nvSpPr>
          <p:cNvPr id="12" name="Text 8"/>
          <p:cNvSpPr/>
          <p:nvPr/>
        </p:nvSpPr>
        <p:spPr>
          <a:xfrm>
            <a:off x="6327180" y="2414984"/>
            <a:ext cx="5183783" cy="23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de instalaciones deportivas con información de precios por hora</a:t>
            </a:r>
            <a:endParaRPr lang="en-US" sz="1167" dirty="0"/>
          </a:p>
        </p:txBody>
      </p:sp>
      <p:sp>
        <p:nvSpPr>
          <p:cNvPr id="13" name="Shape 9"/>
          <p:cNvSpPr/>
          <p:nvPr/>
        </p:nvSpPr>
        <p:spPr>
          <a:xfrm>
            <a:off x="524769" y="3200797"/>
            <a:ext cx="5496223" cy="1487983"/>
          </a:xfrm>
          <a:prstGeom prst="roundRect">
            <a:avLst>
              <a:gd name="adj" fmla="val 423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14" name="Shape 10"/>
          <p:cNvSpPr/>
          <p:nvPr/>
        </p:nvSpPr>
        <p:spPr>
          <a:xfrm>
            <a:off x="681038" y="3357067"/>
            <a:ext cx="449758" cy="449758"/>
          </a:xfrm>
          <a:prstGeom prst="roundRect">
            <a:avLst>
              <a:gd name="adj" fmla="val 16940738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664" y="3480693"/>
            <a:ext cx="202407" cy="20240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1038" y="3956744"/>
            <a:ext cx="1968004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42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Sistema de Reservas</a:t>
            </a:r>
            <a:endParaRPr lang="en-US" sz="1542" dirty="0"/>
          </a:p>
        </p:txBody>
      </p:sp>
      <p:sp>
        <p:nvSpPr>
          <p:cNvPr id="17" name="Text 12"/>
          <p:cNvSpPr/>
          <p:nvPr/>
        </p:nvSpPr>
        <p:spPr>
          <a:xfrm>
            <a:off x="681038" y="4292699"/>
            <a:ext cx="5183683" cy="23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 por fecha y horario con validación automática de disponibilidad</a:t>
            </a:r>
            <a:endParaRPr lang="en-US" sz="1167" dirty="0"/>
          </a:p>
        </p:txBody>
      </p:sp>
      <p:sp>
        <p:nvSpPr>
          <p:cNvPr id="18" name="Shape 13"/>
          <p:cNvSpPr/>
          <p:nvPr/>
        </p:nvSpPr>
        <p:spPr>
          <a:xfrm>
            <a:off x="6170910" y="3200797"/>
            <a:ext cx="5496322" cy="1487983"/>
          </a:xfrm>
          <a:prstGeom prst="roundRect">
            <a:avLst>
              <a:gd name="adj" fmla="val 423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19" name="Shape 14"/>
          <p:cNvSpPr/>
          <p:nvPr/>
        </p:nvSpPr>
        <p:spPr>
          <a:xfrm>
            <a:off x="6327180" y="3357067"/>
            <a:ext cx="449758" cy="449758"/>
          </a:xfrm>
          <a:prstGeom prst="roundRect">
            <a:avLst>
              <a:gd name="adj" fmla="val 16940738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50806" y="3480693"/>
            <a:ext cx="202407" cy="20240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27181" y="3956744"/>
            <a:ext cx="1968004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42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Cancelación Flexible</a:t>
            </a:r>
            <a:endParaRPr lang="en-US" sz="1542" dirty="0"/>
          </a:p>
        </p:txBody>
      </p:sp>
      <p:sp>
        <p:nvSpPr>
          <p:cNvPr id="22" name="Text 16"/>
          <p:cNvSpPr/>
          <p:nvPr/>
        </p:nvSpPr>
        <p:spPr>
          <a:xfrm>
            <a:off x="6327180" y="4292699"/>
            <a:ext cx="5183783" cy="23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cancelaciones con restricciones de seguridad</a:t>
            </a:r>
            <a:endParaRPr lang="en-US" sz="1167" dirty="0"/>
          </a:p>
        </p:txBody>
      </p:sp>
      <p:sp>
        <p:nvSpPr>
          <p:cNvPr id="23" name="Shape 17"/>
          <p:cNvSpPr/>
          <p:nvPr/>
        </p:nvSpPr>
        <p:spPr>
          <a:xfrm>
            <a:off x="524769" y="4838700"/>
            <a:ext cx="5496223" cy="1487983"/>
          </a:xfrm>
          <a:prstGeom prst="roundRect">
            <a:avLst>
              <a:gd name="adj" fmla="val 423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24" name="Shape 18"/>
          <p:cNvSpPr/>
          <p:nvPr/>
        </p:nvSpPr>
        <p:spPr>
          <a:xfrm>
            <a:off x="681038" y="4994969"/>
            <a:ext cx="449758" cy="449758"/>
          </a:xfrm>
          <a:prstGeom prst="roundRect">
            <a:avLst>
              <a:gd name="adj" fmla="val 16940738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4664" y="5118596"/>
            <a:ext cx="202407" cy="20240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1038" y="5594648"/>
            <a:ext cx="1968004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42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Historial Completo</a:t>
            </a:r>
            <a:endParaRPr lang="en-US" sz="1542" dirty="0"/>
          </a:p>
        </p:txBody>
      </p:sp>
      <p:sp>
        <p:nvSpPr>
          <p:cNvPr id="27" name="Text 20"/>
          <p:cNvSpPr/>
          <p:nvPr/>
        </p:nvSpPr>
        <p:spPr>
          <a:xfrm>
            <a:off x="681038" y="5930602"/>
            <a:ext cx="5183683" cy="23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detallado de todas las reservas realizadas por usuario</a:t>
            </a:r>
            <a:endParaRPr lang="en-US" sz="1167" dirty="0"/>
          </a:p>
        </p:txBody>
      </p:sp>
      <p:sp>
        <p:nvSpPr>
          <p:cNvPr id="28" name="Shape 21"/>
          <p:cNvSpPr/>
          <p:nvPr/>
        </p:nvSpPr>
        <p:spPr>
          <a:xfrm>
            <a:off x="6170910" y="4838700"/>
            <a:ext cx="5496322" cy="1487983"/>
          </a:xfrm>
          <a:prstGeom prst="roundRect">
            <a:avLst>
              <a:gd name="adj" fmla="val 423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29" name="Shape 22"/>
          <p:cNvSpPr/>
          <p:nvPr/>
        </p:nvSpPr>
        <p:spPr>
          <a:xfrm>
            <a:off x="6327180" y="4994969"/>
            <a:ext cx="449758" cy="449758"/>
          </a:xfrm>
          <a:prstGeom prst="roundRect">
            <a:avLst>
              <a:gd name="adj" fmla="val 16940738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50806" y="5118596"/>
            <a:ext cx="202407" cy="20240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27180" y="5594648"/>
            <a:ext cx="2279650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42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Validaciones Inteligentes</a:t>
            </a:r>
            <a:endParaRPr lang="en-US" sz="1542" dirty="0"/>
          </a:p>
        </p:txBody>
      </p:sp>
      <p:sp>
        <p:nvSpPr>
          <p:cNvPr id="32" name="Text 24"/>
          <p:cNvSpPr/>
          <p:nvPr/>
        </p:nvSpPr>
        <p:spPr>
          <a:xfrm>
            <a:off x="6327180" y="5930602"/>
            <a:ext cx="5183783" cy="23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Verificación automática para prevenir conflictos de horarios</a:t>
            </a:r>
            <a:endParaRPr lang="en-US" sz="1167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3F9F23AE-D8EC-4049-FAC8-05D1EB57FEC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04565" y="6399214"/>
            <a:ext cx="1724266" cy="4261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948" y="424260"/>
            <a:ext cx="6168827" cy="50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58"/>
              </a:lnSpc>
            </a:pPr>
            <a:r>
              <a:rPr lang="en-US" sz="3167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Stack Tecnológico Implementado</a:t>
            </a:r>
            <a:endParaRPr lang="en-US" sz="3167" dirty="0"/>
          </a:p>
        </p:txBody>
      </p:sp>
      <p:sp>
        <p:nvSpPr>
          <p:cNvPr id="3" name="Shape 1"/>
          <p:cNvSpPr/>
          <p:nvPr/>
        </p:nvSpPr>
        <p:spPr>
          <a:xfrm>
            <a:off x="539949" y="1470422"/>
            <a:ext cx="5478859" cy="1398389"/>
          </a:xfrm>
          <a:prstGeom prst="roundRect">
            <a:avLst>
              <a:gd name="adj" fmla="val 6539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4" name="Shape 2"/>
          <p:cNvSpPr/>
          <p:nvPr/>
        </p:nvSpPr>
        <p:spPr>
          <a:xfrm>
            <a:off x="539949" y="1451372"/>
            <a:ext cx="5478859" cy="76200"/>
          </a:xfrm>
          <a:prstGeom prst="roundRect">
            <a:avLst>
              <a:gd name="adj" fmla="val 85044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5" name="Shape 3"/>
          <p:cNvSpPr/>
          <p:nvPr/>
        </p:nvSpPr>
        <p:spPr>
          <a:xfrm>
            <a:off x="3047950" y="1239045"/>
            <a:ext cx="462856" cy="462856"/>
          </a:xfrm>
          <a:prstGeom prst="roundRect">
            <a:avLst>
              <a:gd name="adj" fmla="val 16463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86758" y="1377851"/>
            <a:ext cx="185143" cy="1851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83" y="1856085"/>
            <a:ext cx="2025055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83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ASP.NET Core MVC</a:t>
            </a:r>
            <a:endParaRPr lang="en-US" sz="1583" dirty="0"/>
          </a:p>
        </p:txBody>
      </p:sp>
      <p:sp>
        <p:nvSpPr>
          <p:cNvPr id="8" name="Text 5"/>
          <p:cNvSpPr/>
          <p:nvPr/>
        </p:nvSpPr>
        <p:spPr>
          <a:xfrm>
            <a:off x="713284" y="2201764"/>
            <a:ext cx="5132189" cy="493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principal para el desarrollo de aplicaciones web robustas y escalables</a:t>
            </a:r>
            <a:endParaRPr lang="en-US" sz="1208" dirty="0"/>
          </a:p>
        </p:txBody>
      </p:sp>
      <p:sp>
        <p:nvSpPr>
          <p:cNvPr id="9" name="Shape 6"/>
          <p:cNvSpPr/>
          <p:nvPr/>
        </p:nvSpPr>
        <p:spPr>
          <a:xfrm>
            <a:off x="6173094" y="1470422"/>
            <a:ext cx="5478958" cy="1398389"/>
          </a:xfrm>
          <a:prstGeom prst="roundRect">
            <a:avLst>
              <a:gd name="adj" fmla="val 6539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10" name="Shape 7"/>
          <p:cNvSpPr/>
          <p:nvPr/>
        </p:nvSpPr>
        <p:spPr>
          <a:xfrm>
            <a:off x="6173094" y="1451372"/>
            <a:ext cx="5478958" cy="76200"/>
          </a:xfrm>
          <a:prstGeom prst="roundRect">
            <a:avLst>
              <a:gd name="adj" fmla="val 85044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11" name="Shape 8"/>
          <p:cNvSpPr/>
          <p:nvPr/>
        </p:nvSpPr>
        <p:spPr>
          <a:xfrm>
            <a:off x="8681095" y="1239045"/>
            <a:ext cx="462856" cy="462856"/>
          </a:xfrm>
          <a:prstGeom prst="roundRect">
            <a:avLst>
              <a:gd name="adj" fmla="val 16463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19902" y="1377851"/>
            <a:ext cx="185143" cy="1851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46428" y="1856085"/>
            <a:ext cx="2025055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83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C#</a:t>
            </a:r>
            <a:endParaRPr lang="en-US" sz="1583" dirty="0"/>
          </a:p>
        </p:txBody>
      </p:sp>
      <p:sp>
        <p:nvSpPr>
          <p:cNvPr id="14" name="Text 10"/>
          <p:cNvSpPr/>
          <p:nvPr/>
        </p:nvSpPr>
        <p:spPr>
          <a:xfrm>
            <a:off x="6346429" y="2201764"/>
            <a:ext cx="5132288" cy="493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Lenguaje de programación orientado a objetos para la lógica del servidor</a:t>
            </a:r>
            <a:endParaRPr lang="en-US" sz="1208" dirty="0"/>
          </a:p>
        </p:txBody>
      </p:sp>
      <p:sp>
        <p:nvSpPr>
          <p:cNvPr id="15" name="Shape 11"/>
          <p:cNvSpPr/>
          <p:nvPr/>
        </p:nvSpPr>
        <p:spPr>
          <a:xfrm>
            <a:off x="539949" y="3254475"/>
            <a:ext cx="5478859" cy="1398389"/>
          </a:xfrm>
          <a:prstGeom prst="roundRect">
            <a:avLst>
              <a:gd name="adj" fmla="val 6539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16" name="Shape 12"/>
          <p:cNvSpPr/>
          <p:nvPr/>
        </p:nvSpPr>
        <p:spPr>
          <a:xfrm>
            <a:off x="539949" y="3235424"/>
            <a:ext cx="5478859" cy="76200"/>
          </a:xfrm>
          <a:prstGeom prst="roundRect">
            <a:avLst>
              <a:gd name="adj" fmla="val 85044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17" name="Shape 13"/>
          <p:cNvSpPr/>
          <p:nvPr/>
        </p:nvSpPr>
        <p:spPr>
          <a:xfrm>
            <a:off x="3047950" y="3023096"/>
            <a:ext cx="462856" cy="462856"/>
          </a:xfrm>
          <a:prstGeom prst="roundRect">
            <a:avLst>
              <a:gd name="adj" fmla="val 16463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86758" y="3161904"/>
            <a:ext cx="185143" cy="18514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3283" y="3640137"/>
            <a:ext cx="2142530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83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Entity Framework Core</a:t>
            </a:r>
            <a:endParaRPr lang="en-US" sz="1583" dirty="0"/>
          </a:p>
        </p:txBody>
      </p:sp>
      <p:sp>
        <p:nvSpPr>
          <p:cNvPr id="20" name="Text 15"/>
          <p:cNvSpPr/>
          <p:nvPr/>
        </p:nvSpPr>
        <p:spPr>
          <a:xfrm>
            <a:off x="713284" y="3985816"/>
            <a:ext cx="5132189" cy="493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ORM moderno para mapeo objeto-relacional y acceso a datos simplificado</a:t>
            </a:r>
            <a:endParaRPr lang="en-US" sz="1208" dirty="0"/>
          </a:p>
        </p:txBody>
      </p:sp>
      <p:sp>
        <p:nvSpPr>
          <p:cNvPr id="21" name="Shape 16"/>
          <p:cNvSpPr/>
          <p:nvPr/>
        </p:nvSpPr>
        <p:spPr>
          <a:xfrm>
            <a:off x="6173094" y="3254475"/>
            <a:ext cx="5478958" cy="1398389"/>
          </a:xfrm>
          <a:prstGeom prst="roundRect">
            <a:avLst>
              <a:gd name="adj" fmla="val 6539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22" name="Shape 17"/>
          <p:cNvSpPr/>
          <p:nvPr/>
        </p:nvSpPr>
        <p:spPr>
          <a:xfrm>
            <a:off x="6173094" y="3235424"/>
            <a:ext cx="5478958" cy="76200"/>
          </a:xfrm>
          <a:prstGeom prst="roundRect">
            <a:avLst>
              <a:gd name="adj" fmla="val 85044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23" name="Shape 18"/>
          <p:cNvSpPr/>
          <p:nvPr/>
        </p:nvSpPr>
        <p:spPr>
          <a:xfrm>
            <a:off x="8681095" y="3023096"/>
            <a:ext cx="462856" cy="462856"/>
          </a:xfrm>
          <a:prstGeom prst="roundRect">
            <a:avLst>
              <a:gd name="adj" fmla="val 16463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19902" y="3161904"/>
            <a:ext cx="185143" cy="18514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46428" y="3640137"/>
            <a:ext cx="2025055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83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SQL Server</a:t>
            </a:r>
            <a:endParaRPr lang="en-US" sz="1583" dirty="0"/>
          </a:p>
        </p:txBody>
      </p:sp>
      <p:sp>
        <p:nvSpPr>
          <p:cNvPr id="26" name="Text 20"/>
          <p:cNvSpPr/>
          <p:nvPr/>
        </p:nvSpPr>
        <p:spPr>
          <a:xfrm>
            <a:off x="6346429" y="3985816"/>
            <a:ext cx="5132288" cy="246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gestor de base de datos relacional empresarial de Microsoft</a:t>
            </a:r>
            <a:endParaRPr lang="en-US" sz="1208" dirty="0"/>
          </a:p>
        </p:txBody>
      </p:sp>
      <p:sp>
        <p:nvSpPr>
          <p:cNvPr id="27" name="Shape 21"/>
          <p:cNvSpPr/>
          <p:nvPr/>
        </p:nvSpPr>
        <p:spPr>
          <a:xfrm>
            <a:off x="539949" y="5038527"/>
            <a:ext cx="5478859" cy="1398389"/>
          </a:xfrm>
          <a:prstGeom prst="roundRect">
            <a:avLst>
              <a:gd name="adj" fmla="val 6539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28" name="Shape 22"/>
          <p:cNvSpPr/>
          <p:nvPr/>
        </p:nvSpPr>
        <p:spPr>
          <a:xfrm>
            <a:off x="539949" y="5019477"/>
            <a:ext cx="5478859" cy="76200"/>
          </a:xfrm>
          <a:prstGeom prst="roundRect">
            <a:avLst>
              <a:gd name="adj" fmla="val 85044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29" name="Shape 23"/>
          <p:cNvSpPr/>
          <p:nvPr/>
        </p:nvSpPr>
        <p:spPr>
          <a:xfrm>
            <a:off x="3047950" y="4807149"/>
            <a:ext cx="462856" cy="462856"/>
          </a:xfrm>
          <a:prstGeom prst="roundRect">
            <a:avLst>
              <a:gd name="adj" fmla="val 16463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86758" y="4945956"/>
            <a:ext cx="185143" cy="18514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3283" y="5424190"/>
            <a:ext cx="2025055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83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Razor Views</a:t>
            </a:r>
            <a:endParaRPr lang="en-US" sz="1583" dirty="0"/>
          </a:p>
        </p:txBody>
      </p:sp>
      <p:sp>
        <p:nvSpPr>
          <p:cNvPr id="32" name="Text 25"/>
          <p:cNvSpPr/>
          <p:nvPr/>
        </p:nvSpPr>
        <p:spPr>
          <a:xfrm>
            <a:off x="713284" y="5769869"/>
            <a:ext cx="5132189" cy="493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 de plantillas CSHTML para generar HTML dinámico desde el servidor</a:t>
            </a:r>
            <a:endParaRPr lang="en-US" sz="1208" dirty="0"/>
          </a:p>
        </p:txBody>
      </p:sp>
      <p:sp>
        <p:nvSpPr>
          <p:cNvPr id="33" name="Shape 26"/>
          <p:cNvSpPr/>
          <p:nvPr/>
        </p:nvSpPr>
        <p:spPr>
          <a:xfrm>
            <a:off x="6173094" y="5038527"/>
            <a:ext cx="5478958" cy="1398389"/>
          </a:xfrm>
          <a:prstGeom prst="roundRect">
            <a:avLst>
              <a:gd name="adj" fmla="val 6539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34" name="Shape 27"/>
          <p:cNvSpPr/>
          <p:nvPr/>
        </p:nvSpPr>
        <p:spPr>
          <a:xfrm>
            <a:off x="6173094" y="5019477"/>
            <a:ext cx="5478958" cy="76200"/>
          </a:xfrm>
          <a:prstGeom prst="roundRect">
            <a:avLst>
              <a:gd name="adj" fmla="val 85044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35" name="Shape 28"/>
          <p:cNvSpPr/>
          <p:nvPr/>
        </p:nvSpPr>
        <p:spPr>
          <a:xfrm>
            <a:off x="8681095" y="4807149"/>
            <a:ext cx="462856" cy="462856"/>
          </a:xfrm>
          <a:prstGeom prst="roundRect">
            <a:avLst>
              <a:gd name="adj" fmla="val 16463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19902" y="4945956"/>
            <a:ext cx="185143" cy="185143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346429" y="5424190"/>
            <a:ext cx="2141538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83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Bootstrap + HTML/CSS</a:t>
            </a:r>
            <a:endParaRPr lang="en-US" sz="1583" dirty="0"/>
          </a:p>
        </p:txBody>
      </p:sp>
      <p:sp>
        <p:nvSpPr>
          <p:cNvPr id="38" name="Text 30"/>
          <p:cNvSpPr/>
          <p:nvPr/>
        </p:nvSpPr>
        <p:spPr>
          <a:xfrm>
            <a:off x="6346429" y="5769868"/>
            <a:ext cx="5132288" cy="246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CSS para interfaces responsivas y diseño profesional</a:t>
            </a:r>
            <a:endParaRPr lang="en-US" sz="1208" dirty="0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4E9E0EE1-623D-F509-CD81-E881FFDF169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04565" y="6399214"/>
            <a:ext cx="1724266" cy="4261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0096" y="480119"/>
            <a:ext cx="10971808" cy="1143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500"/>
              </a:lnSpc>
            </a:pPr>
            <a:r>
              <a:rPr lang="en-US" sz="3583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Arquitectura MVC: Separación de Responsabilidades</a:t>
            </a:r>
            <a:endParaRPr lang="en-US" sz="3583" dirty="0"/>
          </a:p>
        </p:txBody>
      </p:sp>
      <p:sp>
        <p:nvSpPr>
          <p:cNvPr id="3" name="Text 1"/>
          <p:cNvSpPr/>
          <p:nvPr/>
        </p:nvSpPr>
        <p:spPr>
          <a:xfrm>
            <a:off x="610096" y="2059881"/>
            <a:ext cx="2745681" cy="343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67"/>
              </a:lnSpc>
            </a:pPr>
            <a:r>
              <a:rPr lang="en-US" sz="2125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Patrón de Diseño</a:t>
            </a:r>
            <a:endParaRPr lang="en-US" sz="2125" dirty="0"/>
          </a:p>
        </p:txBody>
      </p:sp>
      <p:sp>
        <p:nvSpPr>
          <p:cNvPr id="4" name="Text 2"/>
          <p:cNvSpPr/>
          <p:nvPr/>
        </p:nvSpPr>
        <p:spPr>
          <a:xfrm>
            <a:off x="610096" y="2577307"/>
            <a:ext cx="3563640" cy="111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3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proyecto implementa el patrón arquitectónico </a:t>
            </a:r>
            <a:r>
              <a:rPr lang="en-US" sz="1333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Model-View-Controller</a:t>
            </a:r>
            <a:r>
              <a:rPr lang="en-US" sz="133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que separa la lógica de negocio, la presentación y el control de flujo.</a:t>
            </a:r>
            <a:endParaRPr lang="en-US" sz="1333" dirty="0"/>
          </a:p>
        </p:txBody>
      </p:sp>
      <p:sp>
        <p:nvSpPr>
          <p:cNvPr id="5" name="Text 3"/>
          <p:cNvSpPr/>
          <p:nvPr/>
        </p:nvSpPr>
        <p:spPr>
          <a:xfrm>
            <a:off x="610096" y="3849787"/>
            <a:ext cx="3563640" cy="111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3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 estructura garantiza una aplicación </a:t>
            </a:r>
            <a:r>
              <a:rPr lang="en-US" sz="1333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ordenada, segura, escalable y fácil de mantener</a:t>
            </a:r>
            <a:r>
              <a:rPr lang="en-US" sz="133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facilitando el trabajo en equipo y futuras actualizaciones.</a:t>
            </a:r>
            <a:endParaRPr lang="en-US" sz="1333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337" y="2081609"/>
            <a:ext cx="871637" cy="13667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51302" y="2255937"/>
            <a:ext cx="2288083" cy="285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792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Modelo</a:t>
            </a:r>
            <a:endParaRPr lang="en-US" sz="1792" dirty="0"/>
          </a:p>
        </p:txBody>
      </p:sp>
      <p:sp>
        <p:nvSpPr>
          <p:cNvPr id="8" name="Text 5"/>
          <p:cNvSpPr/>
          <p:nvPr/>
        </p:nvSpPr>
        <p:spPr>
          <a:xfrm>
            <a:off x="5651302" y="2716213"/>
            <a:ext cx="5936853" cy="557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3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Entidades de datos: Usuario, Cancha y Reserva. Define la estructura de la información y las reglas de negocio.</a:t>
            </a:r>
            <a:endParaRPr lang="en-US" sz="1333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337" y="3448348"/>
            <a:ext cx="871637" cy="13667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51302" y="3622675"/>
            <a:ext cx="2288083" cy="285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792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Vista</a:t>
            </a:r>
            <a:endParaRPr lang="en-US" sz="1792" dirty="0"/>
          </a:p>
        </p:txBody>
      </p:sp>
      <p:sp>
        <p:nvSpPr>
          <p:cNvPr id="11" name="Text 7"/>
          <p:cNvSpPr/>
          <p:nvPr/>
        </p:nvSpPr>
        <p:spPr>
          <a:xfrm>
            <a:off x="5651302" y="4082951"/>
            <a:ext cx="5936853" cy="557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3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Formularios HTML y tablas dinámicas. Presenta la información al usuario de forma visual e interactiva.</a:t>
            </a:r>
            <a:endParaRPr lang="en-US" sz="1333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5337" y="4815086"/>
            <a:ext cx="871637" cy="13667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51302" y="4989414"/>
            <a:ext cx="2288083" cy="285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792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Controlador</a:t>
            </a:r>
            <a:endParaRPr lang="en-US" sz="1792" dirty="0"/>
          </a:p>
        </p:txBody>
      </p:sp>
      <p:sp>
        <p:nvSpPr>
          <p:cNvPr id="14" name="Text 9"/>
          <p:cNvSpPr/>
          <p:nvPr/>
        </p:nvSpPr>
        <p:spPr>
          <a:xfrm>
            <a:off x="5651302" y="5449689"/>
            <a:ext cx="5936853" cy="557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3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Lógica de negocio y validaciones. Procesa las peticiones y coordina Modelo y Vista.</a:t>
            </a:r>
            <a:endParaRPr lang="en-US" sz="1333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15149AF-83CC-CC63-1B1D-4362BAE9AB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4565" y="6399214"/>
            <a:ext cx="1724266" cy="426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3144" y="434777"/>
            <a:ext cx="5015408" cy="518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83"/>
              </a:lnSpc>
            </a:pPr>
            <a:r>
              <a:rPr lang="en-US" sz="3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Diseño de la Base de Datos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553144" y="1190427"/>
            <a:ext cx="3177778" cy="1859856"/>
          </a:xfrm>
          <a:prstGeom prst="roundRect">
            <a:avLst>
              <a:gd name="adj" fmla="val 35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5" name="Text 2"/>
          <p:cNvSpPr/>
          <p:nvPr/>
        </p:nvSpPr>
        <p:spPr>
          <a:xfrm>
            <a:off x="717550" y="1354832"/>
            <a:ext cx="2074565" cy="259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625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Tabla de Usuarios</a:t>
            </a:r>
            <a:endParaRPr lang="en-US" sz="1625" dirty="0"/>
          </a:p>
        </p:txBody>
      </p:sp>
      <p:sp>
        <p:nvSpPr>
          <p:cNvPr id="6" name="Text 3"/>
          <p:cNvSpPr/>
          <p:nvPr/>
        </p:nvSpPr>
        <p:spPr>
          <a:xfrm>
            <a:off x="717550" y="1708845"/>
            <a:ext cx="2848968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único del usuario</a:t>
            </a:r>
            <a:endParaRPr lang="en-US" sz="1208" dirty="0"/>
          </a:p>
        </p:txBody>
      </p:sp>
      <p:sp>
        <p:nvSpPr>
          <p:cNvPr id="7" name="Text 4"/>
          <p:cNvSpPr/>
          <p:nvPr/>
        </p:nvSpPr>
        <p:spPr>
          <a:xfrm>
            <a:off x="717550" y="2016920"/>
            <a:ext cx="2848968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Nombre completo</a:t>
            </a:r>
            <a:endParaRPr lang="en-US" sz="1208" dirty="0"/>
          </a:p>
        </p:txBody>
      </p:sp>
      <p:sp>
        <p:nvSpPr>
          <p:cNvPr id="8" name="Text 5"/>
          <p:cNvSpPr/>
          <p:nvPr/>
        </p:nvSpPr>
        <p:spPr>
          <a:xfrm>
            <a:off x="717550" y="2324994"/>
            <a:ext cx="2848968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y contraseña</a:t>
            </a:r>
            <a:endParaRPr lang="en-US" sz="1208" dirty="0"/>
          </a:p>
        </p:txBody>
      </p:sp>
      <p:sp>
        <p:nvSpPr>
          <p:cNvPr id="9" name="Text 6"/>
          <p:cNvSpPr/>
          <p:nvPr/>
        </p:nvSpPr>
        <p:spPr>
          <a:xfrm>
            <a:off x="717550" y="2633068"/>
            <a:ext cx="2848968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Fecha de registro</a:t>
            </a:r>
            <a:endParaRPr lang="en-US" sz="1208" dirty="0"/>
          </a:p>
        </p:txBody>
      </p:sp>
      <p:sp>
        <p:nvSpPr>
          <p:cNvPr id="10" name="Shape 7"/>
          <p:cNvSpPr/>
          <p:nvPr/>
        </p:nvSpPr>
        <p:spPr>
          <a:xfrm>
            <a:off x="3888979" y="1190427"/>
            <a:ext cx="3177878" cy="1859856"/>
          </a:xfrm>
          <a:prstGeom prst="roundRect">
            <a:avLst>
              <a:gd name="adj" fmla="val 35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11" name="Text 8"/>
          <p:cNvSpPr/>
          <p:nvPr/>
        </p:nvSpPr>
        <p:spPr>
          <a:xfrm>
            <a:off x="4053383" y="1354832"/>
            <a:ext cx="2074565" cy="259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625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Tabla de Canchas</a:t>
            </a:r>
            <a:endParaRPr lang="en-US" sz="1625" dirty="0"/>
          </a:p>
        </p:txBody>
      </p:sp>
      <p:sp>
        <p:nvSpPr>
          <p:cNvPr id="12" name="Text 9"/>
          <p:cNvSpPr/>
          <p:nvPr/>
        </p:nvSpPr>
        <p:spPr>
          <a:xfrm>
            <a:off x="4053383" y="1708845"/>
            <a:ext cx="2849067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de la cancha</a:t>
            </a:r>
            <a:endParaRPr lang="en-US" sz="1208" dirty="0"/>
          </a:p>
        </p:txBody>
      </p:sp>
      <p:sp>
        <p:nvSpPr>
          <p:cNvPr id="13" name="Text 10"/>
          <p:cNvSpPr/>
          <p:nvPr/>
        </p:nvSpPr>
        <p:spPr>
          <a:xfrm>
            <a:off x="4053383" y="2016920"/>
            <a:ext cx="2849067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Nombre y tipo de deporte</a:t>
            </a:r>
            <a:endParaRPr lang="en-US" sz="1208" dirty="0"/>
          </a:p>
        </p:txBody>
      </p:sp>
      <p:sp>
        <p:nvSpPr>
          <p:cNvPr id="14" name="Text 11"/>
          <p:cNvSpPr/>
          <p:nvPr/>
        </p:nvSpPr>
        <p:spPr>
          <a:xfrm>
            <a:off x="4053383" y="2324994"/>
            <a:ext cx="2849067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Precio por hora</a:t>
            </a:r>
            <a:endParaRPr lang="en-US" sz="1208" dirty="0"/>
          </a:p>
        </p:txBody>
      </p:sp>
      <p:sp>
        <p:nvSpPr>
          <p:cNvPr id="15" name="Text 12"/>
          <p:cNvSpPr/>
          <p:nvPr/>
        </p:nvSpPr>
        <p:spPr>
          <a:xfrm>
            <a:off x="4053383" y="2633068"/>
            <a:ext cx="2849067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 de disponibilidad</a:t>
            </a:r>
            <a:endParaRPr lang="en-US" sz="1208" dirty="0"/>
          </a:p>
        </p:txBody>
      </p:sp>
      <p:sp>
        <p:nvSpPr>
          <p:cNvPr id="16" name="Shape 13"/>
          <p:cNvSpPr/>
          <p:nvPr/>
        </p:nvSpPr>
        <p:spPr>
          <a:xfrm>
            <a:off x="553145" y="3208338"/>
            <a:ext cx="6513711" cy="1859856"/>
          </a:xfrm>
          <a:prstGeom prst="roundRect">
            <a:avLst>
              <a:gd name="adj" fmla="val 35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17" name="Text 14"/>
          <p:cNvSpPr/>
          <p:nvPr/>
        </p:nvSpPr>
        <p:spPr>
          <a:xfrm>
            <a:off x="717550" y="3372744"/>
            <a:ext cx="2074565" cy="259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625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Tabla de Reservas</a:t>
            </a:r>
            <a:endParaRPr lang="en-US" sz="1625" dirty="0"/>
          </a:p>
        </p:txBody>
      </p:sp>
      <p:sp>
        <p:nvSpPr>
          <p:cNvPr id="18" name="Text 15"/>
          <p:cNvSpPr/>
          <p:nvPr/>
        </p:nvSpPr>
        <p:spPr>
          <a:xfrm>
            <a:off x="717550" y="3726756"/>
            <a:ext cx="6184900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de reserva único</a:t>
            </a:r>
            <a:endParaRPr lang="en-US" sz="1208" dirty="0"/>
          </a:p>
        </p:txBody>
      </p:sp>
      <p:sp>
        <p:nvSpPr>
          <p:cNvPr id="19" name="Text 16"/>
          <p:cNvSpPr/>
          <p:nvPr/>
        </p:nvSpPr>
        <p:spPr>
          <a:xfrm>
            <a:off x="717550" y="4034831"/>
            <a:ext cx="6184900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Referencias a Usuario y Cancha</a:t>
            </a:r>
            <a:endParaRPr lang="en-US" sz="1208" dirty="0"/>
          </a:p>
        </p:txBody>
      </p:sp>
      <p:sp>
        <p:nvSpPr>
          <p:cNvPr id="20" name="Text 17"/>
          <p:cNvSpPr/>
          <p:nvPr/>
        </p:nvSpPr>
        <p:spPr>
          <a:xfrm>
            <a:off x="717550" y="4342905"/>
            <a:ext cx="6184900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Fecha (tipo DATE)</a:t>
            </a:r>
            <a:endParaRPr lang="en-US" sz="1208" dirty="0"/>
          </a:p>
        </p:txBody>
      </p:sp>
      <p:sp>
        <p:nvSpPr>
          <p:cNvPr id="21" name="Text 18"/>
          <p:cNvSpPr/>
          <p:nvPr/>
        </p:nvSpPr>
        <p:spPr>
          <a:xfrm>
            <a:off x="717550" y="4650979"/>
            <a:ext cx="6184900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Hora inicio y fin (tipo TIME)</a:t>
            </a:r>
            <a:endParaRPr lang="en-US" sz="1208" dirty="0"/>
          </a:p>
        </p:txBody>
      </p:sp>
      <p:sp>
        <p:nvSpPr>
          <p:cNvPr id="22" name="Shape 19"/>
          <p:cNvSpPr/>
          <p:nvPr/>
        </p:nvSpPr>
        <p:spPr>
          <a:xfrm>
            <a:off x="553145" y="5245994"/>
            <a:ext cx="6513711" cy="1177131"/>
          </a:xfrm>
          <a:prstGeom prst="roundRect">
            <a:avLst>
              <a:gd name="adj" fmla="val 5640"/>
            </a:avLst>
          </a:prstGeom>
          <a:solidFill>
            <a:srgbClr val="B3E5FF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1" y="5483027"/>
            <a:ext cx="197544" cy="15805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66800" y="5443538"/>
            <a:ext cx="5842000" cy="75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208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Tipos de datos optimizados:</a:t>
            </a:r>
            <a:r>
              <a:rPr lang="en-US" sz="120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 utilizan tipos específicos como DATE y TIME en lugar de DATETIME para mejorar las validaciones, reducir el tamaño de almacenamiento y facilitar las consultas de disponibilidad.</a:t>
            </a:r>
            <a:endParaRPr lang="en-US" sz="120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1945" y="504330"/>
            <a:ext cx="6236693" cy="601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708"/>
              </a:lnSpc>
            </a:pPr>
            <a:r>
              <a:rPr lang="en-US" sz="3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Flujo del Proceso de Reserva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41945" y="1473002"/>
            <a:ext cx="183357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417" dirty="0"/>
          </a:p>
        </p:txBody>
      </p:sp>
      <p:sp>
        <p:nvSpPr>
          <p:cNvPr id="4" name="Shape 2"/>
          <p:cNvSpPr/>
          <p:nvPr/>
        </p:nvSpPr>
        <p:spPr>
          <a:xfrm>
            <a:off x="641945" y="1759248"/>
            <a:ext cx="3513733" cy="2540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5" name="Text 3"/>
          <p:cNvSpPr/>
          <p:nvPr/>
        </p:nvSpPr>
        <p:spPr>
          <a:xfrm>
            <a:off x="641945" y="1901726"/>
            <a:ext cx="2889250" cy="300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75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Autenticación del Usuario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641945" y="2312591"/>
            <a:ext cx="3513733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usuario inicia sesión con sus credenciales verificadas en el sistema</a:t>
            </a:r>
            <a:endParaRPr lang="en-US" sz="1417" dirty="0"/>
          </a:p>
        </p:txBody>
      </p:sp>
      <p:sp>
        <p:nvSpPr>
          <p:cNvPr id="7" name="Text 5"/>
          <p:cNvSpPr/>
          <p:nvPr/>
        </p:nvSpPr>
        <p:spPr>
          <a:xfrm>
            <a:off x="4339034" y="1473002"/>
            <a:ext cx="183357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417" dirty="0"/>
          </a:p>
        </p:txBody>
      </p:sp>
      <p:sp>
        <p:nvSpPr>
          <p:cNvPr id="8" name="Shape 6"/>
          <p:cNvSpPr/>
          <p:nvPr/>
        </p:nvSpPr>
        <p:spPr>
          <a:xfrm>
            <a:off x="4339034" y="1759248"/>
            <a:ext cx="3513832" cy="2540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9" name="Text 7"/>
          <p:cNvSpPr/>
          <p:nvPr/>
        </p:nvSpPr>
        <p:spPr>
          <a:xfrm>
            <a:off x="4339035" y="1901726"/>
            <a:ext cx="2407344" cy="300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75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Selección de Cancha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4339034" y="2312591"/>
            <a:ext cx="3513832" cy="880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 el catálogo de canchas disponibles con sus características y precios</a:t>
            </a:r>
            <a:endParaRPr lang="en-US" sz="1417" dirty="0"/>
          </a:p>
        </p:txBody>
      </p:sp>
      <p:sp>
        <p:nvSpPr>
          <p:cNvPr id="11" name="Text 9"/>
          <p:cNvSpPr/>
          <p:nvPr/>
        </p:nvSpPr>
        <p:spPr>
          <a:xfrm>
            <a:off x="8036222" y="1473002"/>
            <a:ext cx="183357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417" dirty="0"/>
          </a:p>
        </p:txBody>
      </p:sp>
      <p:sp>
        <p:nvSpPr>
          <p:cNvPr id="12" name="Shape 10"/>
          <p:cNvSpPr/>
          <p:nvPr/>
        </p:nvSpPr>
        <p:spPr>
          <a:xfrm>
            <a:off x="8036223" y="1759248"/>
            <a:ext cx="3513733" cy="2540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13" name="Text 11"/>
          <p:cNvSpPr/>
          <p:nvPr/>
        </p:nvSpPr>
        <p:spPr>
          <a:xfrm>
            <a:off x="8036223" y="1901726"/>
            <a:ext cx="2831703" cy="300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75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Configuración de Horario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8036223" y="2312591"/>
            <a:ext cx="3513733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Elige la fecha deseada, hora de inicio y hora de finalización del uso</a:t>
            </a:r>
            <a:endParaRPr lang="en-US" sz="1417" dirty="0"/>
          </a:p>
        </p:txBody>
      </p:sp>
      <p:sp>
        <p:nvSpPr>
          <p:cNvPr id="15" name="Text 13"/>
          <p:cNvSpPr/>
          <p:nvPr/>
        </p:nvSpPr>
        <p:spPr>
          <a:xfrm>
            <a:off x="641945" y="3513932"/>
            <a:ext cx="183357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417" dirty="0"/>
          </a:p>
        </p:txBody>
      </p:sp>
      <p:sp>
        <p:nvSpPr>
          <p:cNvPr id="16" name="Shape 14"/>
          <p:cNvSpPr/>
          <p:nvPr/>
        </p:nvSpPr>
        <p:spPr>
          <a:xfrm>
            <a:off x="641945" y="3800178"/>
            <a:ext cx="5362278" cy="2540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17" name="Text 15"/>
          <p:cNvSpPr/>
          <p:nvPr/>
        </p:nvSpPr>
        <p:spPr>
          <a:xfrm>
            <a:off x="641945" y="3942656"/>
            <a:ext cx="2530376" cy="300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75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Validación Automática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641945" y="4353520"/>
            <a:ext cx="5362278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sistema verifica disponibilidad en tiempo real evitando conflictos</a:t>
            </a:r>
            <a:endParaRPr lang="en-US" sz="1417" dirty="0"/>
          </a:p>
        </p:txBody>
      </p:sp>
      <p:sp>
        <p:nvSpPr>
          <p:cNvPr id="19" name="Text 17"/>
          <p:cNvSpPr/>
          <p:nvPr/>
        </p:nvSpPr>
        <p:spPr>
          <a:xfrm>
            <a:off x="6187579" y="3513932"/>
            <a:ext cx="183357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417" dirty="0"/>
          </a:p>
        </p:txBody>
      </p:sp>
      <p:sp>
        <p:nvSpPr>
          <p:cNvPr id="20" name="Shape 18"/>
          <p:cNvSpPr/>
          <p:nvPr/>
        </p:nvSpPr>
        <p:spPr>
          <a:xfrm>
            <a:off x="6187579" y="3800178"/>
            <a:ext cx="5362377" cy="2540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21" name="Text 19"/>
          <p:cNvSpPr/>
          <p:nvPr/>
        </p:nvSpPr>
        <p:spPr>
          <a:xfrm>
            <a:off x="6187579" y="3942656"/>
            <a:ext cx="2692797" cy="300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75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Confirmación y Registro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6187579" y="4353521"/>
            <a:ext cx="5362377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reserva se almacena correctamente en la base de datos</a:t>
            </a:r>
            <a:endParaRPr lang="en-US" sz="1417" dirty="0"/>
          </a:p>
        </p:txBody>
      </p:sp>
      <p:sp>
        <p:nvSpPr>
          <p:cNvPr id="23" name="Shape 21"/>
          <p:cNvSpPr/>
          <p:nvPr/>
        </p:nvSpPr>
        <p:spPr>
          <a:xfrm>
            <a:off x="641946" y="5284292"/>
            <a:ext cx="10908109" cy="1072853"/>
          </a:xfrm>
          <a:prstGeom prst="roundRect">
            <a:avLst>
              <a:gd name="adj" fmla="val 7180"/>
            </a:avLst>
          </a:prstGeom>
          <a:solidFill>
            <a:srgbClr val="B3E5FF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02" y="5562600"/>
            <a:ext cx="229195" cy="183357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37853" y="5513487"/>
            <a:ext cx="10128845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 de hora:</a:t>
            </a:r>
            <a:r>
              <a:rPr lang="en-US" sz="141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sistema muestra las horas en formato de 12 horas con indicadores AM/PM para una mejor comprensión por parte de los usuarios.</a:t>
            </a:r>
            <a:endParaRPr lang="en-US" sz="1417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B68B1A8-6C59-BAD7-DFC6-B649037BE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4565" y="6399214"/>
            <a:ext cx="1724266" cy="4261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9645" y="384770"/>
            <a:ext cx="7442299" cy="45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83"/>
              </a:lnSpc>
            </a:pPr>
            <a:r>
              <a:rPr lang="en-US" sz="2875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Sistema de Validaciones y Reglas de Negocio</a:t>
            </a:r>
            <a:endParaRPr lang="en-US" sz="2875" dirty="0"/>
          </a:p>
        </p:txBody>
      </p:sp>
      <p:sp>
        <p:nvSpPr>
          <p:cNvPr id="3" name="Shape 1"/>
          <p:cNvSpPr/>
          <p:nvPr/>
        </p:nvSpPr>
        <p:spPr>
          <a:xfrm>
            <a:off x="489644" y="1211064"/>
            <a:ext cx="6591102" cy="1134963"/>
          </a:xfrm>
          <a:prstGeom prst="roundRect">
            <a:avLst>
              <a:gd name="adj" fmla="val 805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4" name="Shape 2"/>
          <p:cNvSpPr/>
          <p:nvPr/>
        </p:nvSpPr>
        <p:spPr>
          <a:xfrm>
            <a:off x="470594" y="1211064"/>
            <a:ext cx="76200" cy="1134963"/>
          </a:xfrm>
          <a:prstGeom prst="roundRect">
            <a:avLst>
              <a:gd name="adj" fmla="val 7712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5" name="Text 3"/>
          <p:cNvSpPr/>
          <p:nvPr/>
        </p:nvSpPr>
        <p:spPr>
          <a:xfrm>
            <a:off x="705744" y="1370013"/>
            <a:ext cx="1836341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417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Validación de Fechas</a:t>
            </a:r>
            <a:endParaRPr lang="en-US" sz="1417" dirty="0"/>
          </a:p>
        </p:txBody>
      </p:sp>
      <p:sp>
        <p:nvSpPr>
          <p:cNvPr id="6" name="Text 4"/>
          <p:cNvSpPr/>
          <p:nvPr/>
        </p:nvSpPr>
        <p:spPr>
          <a:xfrm>
            <a:off x="705743" y="1739404"/>
            <a:ext cx="621605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8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sistema impide la selección de fechas pasadas, asegurando que solo se puedan hacer reservas futuras.</a:t>
            </a:r>
            <a:endParaRPr lang="en-US" sz="1083" dirty="0"/>
          </a:p>
        </p:txBody>
      </p:sp>
      <p:sp>
        <p:nvSpPr>
          <p:cNvPr id="7" name="Shape 5"/>
          <p:cNvSpPr/>
          <p:nvPr/>
        </p:nvSpPr>
        <p:spPr>
          <a:xfrm>
            <a:off x="489644" y="2485926"/>
            <a:ext cx="6591102" cy="1134963"/>
          </a:xfrm>
          <a:prstGeom prst="roundRect">
            <a:avLst>
              <a:gd name="adj" fmla="val 805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8" name="Shape 6"/>
          <p:cNvSpPr/>
          <p:nvPr/>
        </p:nvSpPr>
        <p:spPr>
          <a:xfrm>
            <a:off x="470594" y="2485926"/>
            <a:ext cx="76200" cy="1134963"/>
          </a:xfrm>
          <a:prstGeom prst="roundRect">
            <a:avLst>
              <a:gd name="adj" fmla="val 7712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9" name="Text 7"/>
          <p:cNvSpPr/>
          <p:nvPr/>
        </p:nvSpPr>
        <p:spPr>
          <a:xfrm>
            <a:off x="705743" y="2644874"/>
            <a:ext cx="2119610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417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Control de Autenticación</a:t>
            </a:r>
            <a:endParaRPr lang="en-US" sz="1417" dirty="0"/>
          </a:p>
        </p:txBody>
      </p:sp>
      <p:sp>
        <p:nvSpPr>
          <p:cNvPr id="10" name="Text 8"/>
          <p:cNvSpPr/>
          <p:nvPr/>
        </p:nvSpPr>
        <p:spPr>
          <a:xfrm>
            <a:off x="705743" y="3014266"/>
            <a:ext cx="621605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8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usuarios con sesión activa pueden acceder al sistema de reservas, garantizando la seguridad.</a:t>
            </a:r>
            <a:endParaRPr lang="en-US" sz="1083" dirty="0"/>
          </a:p>
        </p:txBody>
      </p:sp>
      <p:sp>
        <p:nvSpPr>
          <p:cNvPr id="11" name="Shape 9"/>
          <p:cNvSpPr/>
          <p:nvPr/>
        </p:nvSpPr>
        <p:spPr>
          <a:xfrm>
            <a:off x="489644" y="3760788"/>
            <a:ext cx="6591102" cy="1134963"/>
          </a:xfrm>
          <a:prstGeom prst="roundRect">
            <a:avLst>
              <a:gd name="adj" fmla="val 805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12" name="Shape 10"/>
          <p:cNvSpPr/>
          <p:nvPr/>
        </p:nvSpPr>
        <p:spPr>
          <a:xfrm>
            <a:off x="470594" y="3760788"/>
            <a:ext cx="76200" cy="1134963"/>
          </a:xfrm>
          <a:prstGeom prst="roundRect">
            <a:avLst>
              <a:gd name="adj" fmla="val 7712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13" name="Text 11"/>
          <p:cNvSpPr/>
          <p:nvPr/>
        </p:nvSpPr>
        <p:spPr>
          <a:xfrm>
            <a:off x="705744" y="3919736"/>
            <a:ext cx="2104529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417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Prevención de Conflictos</a:t>
            </a:r>
            <a:endParaRPr lang="en-US" sz="1417" dirty="0"/>
          </a:p>
        </p:txBody>
      </p:sp>
      <p:sp>
        <p:nvSpPr>
          <p:cNvPr id="14" name="Text 12"/>
          <p:cNvSpPr/>
          <p:nvPr/>
        </p:nvSpPr>
        <p:spPr>
          <a:xfrm>
            <a:off x="705743" y="4289128"/>
            <a:ext cx="621605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8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Algoritmo que detecta y evita solapamientos de horarios entre diferentes usuarios en la misma cancha.</a:t>
            </a:r>
            <a:endParaRPr lang="en-US" sz="1083" dirty="0"/>
          </a:p>
        </p:txBody>
      </p:sp>
      <p:sp>
        <p:nvSpPr>
          <p:cNvPr id="15" name="Shape 13"/>
          <p:cNvSpPr/>
          <p:nvPr/>
        </p:nvSpPr>
        <p:spPr>
          <a:xfrm>
            <a:off x="489644" y="5035649"/>
            <a:ext cx="6591102" cy="1134963"/>
          </a:xfrm>
          <a:prstGeom prst="roundRect">
            <a:avLst>
              <a:gd name="adj" fmla="val 805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16" name="Shape 14"/>
          <p:cNvSpPr/>
          <p:nvPr/>
        </p:nvSpPr>
        <p:spPr>
          <a:xfrm>
            <a:off x="470594" y="5035649"/>
            <a:ext cx="76200" cy="1134963"/>
          </a:xfrm>
          <a:prstGeom prst="roundRect">
            <a:avLst>
              <a:gd name="adj" fmla="val 7712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17" name="Text 15"/>
          <p:cNvSpPr/>
          <p:nvPr/>
        </p:nvSpPr>
        <p:spPr>
          <a:xfrm>
            <a:off x="705744" y="5194598"/>
            <a:ext cx="2149078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417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Gestión de Cancelaciones</a:t>
            </a:r>
            <a:endParaRPr lang="en-US" sz="1417" dirty="0"/>
          </a:p>
        </p:txBody>
      </p:sp>
      <p:sp>
        <p:nvSpPr>
          <p:cNvPr id="18" name="Text 16"/>
          <p:cNvSpPr/>
          <p:nvPr/>
        </p:nvSpPr>
        <p:spPr>
          <a:xfrm>
            <a:off x="705743" y="5563989"/>
            <a:ext cx="621605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8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usuarios solo pueden cancelar sus propias reservas, protegiendo la integridad del sistema.</a:t>
            </a:r>
            <a:endParaRPr lang="en-US" sz="1083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408" y="1211064"/>
            <a:ext cx="4280297" cy="428029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428409" y="5648722"/>
            <a:ext cx="1836341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417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Manejo de Errores</a:t>
            </a:r>
            <a:endParaRPr lang="en-US" sz="1417" dirty="0"/>
          </a:p>
        </p:txBody>
      </p:sp>
      <p:sp>
        <p:nvSpPr>
          <p:cNvPr id="21" name="Text 18"/>
          <p:cNvSpPr/>
          <p:nvPr/>
        </p:nvSpPr>
        <p:spPr>
          <a:xfrm>
            <a:off x="7428408" y="6018114"/>
            <a:ext cx="4280297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8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se detecta un conflicto o validación fallida, el sistema muestra mensajes de error claros y específicos que guían al usuario sobre cómo proceder correctamente.</a:t>
            </a:r>
            <a:endParaRPr lang="en-US" sz="1083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E8A1F232-AEBA-D026-0854-8FAA71D23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8735" y="6466115"/>
            <a:ext cx="1543265" cy="3634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93394" y="594320"/>
            <a:ext cx="5943203" cy="48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33"/>
              </a:lnSpc>
            </a:pPr>
            <a:r>
              <a:rPr lang="en-US" sz="3042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Aportes y Beneficios del Proyecto</a:t>
            </a:r>
            <a:endParaRPr lang="en-US" sz="3042" dirty="0"/>
          </a:p>
        </p:txBody>
      </p:sp>
      <p:sp>
        <p:nvSpPr>
          <p:cNvPr id="4" name="Shape 1"/>
          <p:cNvSpPr/>
          <p:nvPr/>
        </p:nvSpPr>
        <p:spPr>
          <a:xfrm>
            <a:off x="5093395" y="1306612"/>
            <a:ext cx="6577211" cy="882650"/>
          </a:xfrm>
          <a:prstGeom prst="roundRect">
            <a:avLst>
              <a:gd name="adj" fmla="val 4050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5" name="Text 2"/>
          <p:cNvSpPr/>
          <p:nvPr/>
        </p:nvSpPr>
        <p:spPr>
          <a:xfrm>
            <a:off x="5248672" y="1461890"/>
            <a:ext cx="2046089" cy="244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Organización Eficiente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248672" y="1795562"/>
            <a:ext cx="6266657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Centraliza toda la información de reservas en un solo sistema accesible</a:t>
            </a:r>
            <a:endParaRPr lang="en-US" sz="1167" dirty="0"/>
          </a:p>
        </p:txBody>
      </p:sp>
      <p:sp>
        <p:nvSpPr>
          <p:cNvPr id="7" name="Shape 4"/>
          <p:cNvSpPr/>
          <p:nvPr/>
        </p:nvSpPr>
        <p:spPr>
          <a:xfrm>
            <a:off x="5093395" y="2338189"/>
            <a:ext cx="6577211" cy="882650"/>
          </a:xfrm>
          <a:prstGeom prst="roundRect">
            <a:avLst>
              <a:gd name="adj" fmla="val 4050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8" name="Text 5"/>
          <p:cNvSpPr/>
          <p:nvPr/>
        </p:nvSpPr>
        <p:spPr>
          <a:xfrm>
            <a:off x="5248672" y="2493467"/>
            <a:ext cx="2241054" cy="244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Prevención de Conflictos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248672" y="2827139"/>
            <a:ext cx="6266657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 superposiciones de horarios mediante validación automática</a:t>
            </a:r>
            <a:endParaRPr lang="en-US" sz="1167" dirty="0"/>
          </a:p>
        </p:txBody>
      </p:sp>
      <p:sp>
        <p:nvSpPr>
          <p:cNvPr id="10" name="Shape 7"/>
          <p:cNvSpPr/>
          <p:nvPr/>
        </p:nvSpPr>
        <p:spPr>
          <a:xfrm>
            <a:off x="5093395" y="3369767"/>
            <a:ext cx="6577211" cy="882650"/>
          </a:xfrm>
          <a:prstGeom prst="roundRect">
            <a:avLst>
              <a:gd name="adj" fmla="val 4050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11" name="Text 8"/>
          <p:cNvSpPr/>
          <p:nvPr/>
        </p:nvSpPr>
        <p:spPr>
          <a:xfrm>
            <a:off x="5248672" y="3525045"/>
            <a:ext cx="1955304" cy="244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Ahorro de Tiempo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48672" y="3858717"/>
            <a:ext cx="6266657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significativamente el tiempo dedicado a tareas administrativas</a:t>
            </a:r>
            <a:endParaRPr lang="en-US" sz="1167" dirty="0"/>
          </a:p>
        </p:txBody>
      </p:sp>
      <p:sp>
        <p:nvSpPr>
          <p:cNvPr id="13" name="Shape 10"/>
          <p:cNvSpPr/>
          <p:nvPr/>
        </p:nvSpPr>
        <p:spPr>
          <a:xfrm>
            <a:off x="5093395" y="4401344"/>
            <a:ext cx="6577211" cy="882650"/>
          </a:xfrm>
          <a:prstGeom prst="roundRect">
            <a:avLst>
              <a:gd name="adj" fmla="val 4050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14" name="Text 11"/>
          <p:cNvSpPr/>
          <p:nvPr/>
        </p:nvSpPr>
        <p:spPr>
          <a:xfrm>
            <a:off x="5248672" y="4556621"/>
            <a:ext cx="2039442" cy="244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Mejora Administrativa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248672" y="4890294"/>
            <a:ext cx="6266657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 la gestión global de las instalaciones deportivas</a:t>
            </a:r>
            <a:endParaRPr lang="en-US" sz="1167" dirty="0"/>
          </a:p>
        </p:txBody>
      </p:sp>
      <p:sp>
        <p:nvSpPr>
          <p:cNvPr id="16" name="Text 13"/>
          <p:cNvSpPr/>
          <p:nvPr/>
        </p:nvSpPr>
        <p:spPr>
          <a:xfrm>
            <a:off x="5316835" y="5619155"/>
            <a:ext cx="6353770" cy="476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 proyecto demuestra cómo la tecnología web puede transformar procesos tradicionales, mejorando la eficiencia y la experiencia de usuario en la gestión deportiva.</a:t>
            </a:r>
            <a:endParaRPr lang="en-US" sz="1167" dirty="0"/>
          </a:p>
        </p:txBody>
      </p:sp>
      <p:sp>
        <p:nvSpPr>
          <p:cNvPr id="17" name="Shape 14"/>
          <p:cNvSpPr/>
          <p:nvPr/>
        </p:nvSpPr>
        <p:spPr>
          <a:xfrm>
            <a:off x="5093394" y="5451574"/>
            <a:ext cx="19050" cy="812007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7115B205-EFD4-8BD6-4478-15E9D522A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1281" y="6496475"/>
            <a:ext cx="1543265" cy="314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832</Words>
  <Application>Microsoft Office PowerPoint</Application>
  <PresentationFormat>Panorámica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Inter</vt:lpstr>
      <vt:lpstr>Petrona Bold</vt:lpstr>
      <vt:lpstr>Petrona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Worrelll</dc:creator>
  <cp:lastModifiedBy>George Worrelll</cp:lastModifiedBy>
  <cp:revision>1</cp:revision>
  <dcterms:created xsi:type="dcterms:W3CDTF">2025-12-17T22:14:34Z</dcterms:created>
  <dcterms:modified xsi:type="dcterms:W3CDTF">2025-12-17T22:33:21Z</dcterms:modified>
</cp:coreProperties>
</file>